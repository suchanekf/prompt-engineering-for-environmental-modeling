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80" r:id="rId2"/>
    <p:sldId id="381" r:id="rId3"/>
    <p:sldId id="382" r:id="rId4"/>
    <p:sldId id="383" r:id="rId5"/>
    <p:sldId id="384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B6BF7-6B86-472B-B93E-01373DE70E26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7F611-682B-40EA-8DD9-67D892F13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6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1D61-D6D0-05AF-6038-AEDE47045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AA030D-8CF6-01D2-8687-8584567D5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E7466-B697-63DD-300B-16CC0368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4707-057B-4E0D-9B51-50C89B024A5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5860-1249-7431-6E4E-467491F2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97C30-C122-F05D-30C6-B357AC6A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88258-38F2-4BB2-B028-FA9C19CC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8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B9924-5FA8-16A2-4C50-A18263B99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7AA6F-61DD-F910-3B27-E7FE6F890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C4DAF-E453-7709-C324-41F09F701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4707-057B-4E0D-9B51-50C89B024A5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661B4-4D4F-40CF-25B6-FFEF1D952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5BDCC-4070-56C8-B07A-C418D9EA4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88258-38F2-4BB2-B028-FA9C19CC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6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26B9-67C1-99FF-DB5D-321C5A58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EE8CE-C74A-9884-E6C3-4E27B2F07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94DF-5051-7128-5192-88AEBFA80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4707-057B-4E0D-9B51-50C89B024A5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CF0CC-08C9-F6D7-2A0E-32178BAE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CF52D-EEB2-64DE-B033-A79E9243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88258-38F2-4BB2-B028-FA9C19CC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28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98F5-11D1-D62F-FF11-238C9DD92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96C3F-6BD0-5B63-E2DB-E7495D4FB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83E87-D7CB-7CC4-E2A9-4E11AE1BA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705BB-2C2C-7178-A01A-A28A34824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4707-057B-4E0D-9B51-50C89B024A5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988F8-D050-602B-3941-2333FA04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ABCD9-8A26-C3B6-A019-3E5B72834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88258-38F2-4BB2-B028-FA9C19CC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79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D761E-1FFF-2DE7-279C-767D6AAF6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7C2C6-9CF9-397B-944B-612ED0F69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9F579-34EF-B8E9-14AD-8194CD81B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859230-A117-C58A-B9F1-C2E7FC8E22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1946AC-AA49-2C26-71D5-953C67B60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315E4D-0AB6-8FEE-7061-8C35221D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4707-057B-4E0D-9B51-50C89B024A5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B65EA-4F19-1B7A-8F77-111DA2C3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5155AA-216B-1012-6506-DFAFC760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88258-38F2-4BB2-B028-FA9C19CC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4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60129-2A70-6E53-BA36-0B5962A5A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6A02F-185F-F851-A834-849941C9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4707-057B-4E0D-9B51-50C89B024A5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F52C7-76BC-47BA-F761-D8D5725A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2CB3D-AD6E-185A-DD06-2892A4CA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88258-38F2-4BB2-B028-FA9C19CC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40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A1730-CEBF-BAD1-8453-F0FDF97B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4707-057B-4E0D-9B51-50C89B024A5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3290C2-23EF-0955-3739-57CCE962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81A88-E88E-FC51-A4D2-253FC28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88258-38F2-4BB2-B028-FA9C19CC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2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A29F4-D6B4-E1B7-0C11-7A7F4E4F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E8361-3A7C-228F-A1EB-637146ED6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7646D-134A-5431-A98E-057FF5E57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A3251-1E38-D382-B3EF-94D751EA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4707-057B-4E0D-9B51-50C89B024A5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985F8-DB7E-85E8-5834-410925787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7B830-BE1A-ABD5-0E57-45D331D7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88258-38F2-4BB2-B028-FA9C19CC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6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F9773-DE50-175D-3CFB-A9AFA933E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7688F-839D-359E-F398-5C83EEEED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D2746-A9B7-3504-E1CF-D88B34180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7E47A-AAA1-09EB-77E1-BDE7A654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4707-057B-4E0D-9B51-50C89B024A5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2D13C-5589-7AFF-7883-54084232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D4355-ED03-0240-6E7B-3C60A673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88258-38F2-4BB2-B028-FA9C19CC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6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818C-6A77-D748-499C-27976E30E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CDBBD-DF8C-6F79-18F0-1064506FD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5D133-7AFB-79E8-F7B2-13F99CF1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4707-057B-4E0D-9B51-50C89B024A5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F56B3-810E-1005-632B-EE3330A0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70BF0-9FA2-862C-1F71-C187026F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88258-38F2-4BB2-B028-FA9C19CC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6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A1C95-F19F-230C-931C-032566793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69AE3-DB0C-4029-BE7F-7ED3F4492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F2D21-4964-F0A0-BDE6-9C93695F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4707-057B-4E0D-9B51-50C89B024A5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08D58-D776-792F-D0AE-3A52D9B2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C8596-F16C-FC18-51E0-A5E0C602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88258-38F2-4BB2-B028-FA9C19CC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98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692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405537-0863-B8E3-9002-0DD819273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8C5F7-F2BC-5ED5-AB40-26CD63E4C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600CC-8C2C-FFF0-B97B-4661C23E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94707-057B-4E0D-9B51-50C89B024A57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DC1BD-9AE3-8650-6529-E51D1F689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B8B03-A44C-8933-FED5-9D784E116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88258-38F2-4BB2-B028-FA9C19CC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9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8224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670560" y="3596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67" kern="0" spc="200" dirty="0">
                <a:solidFill>
                  <a:srgbClr val="14B8A6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WITH REAL-WORLD OZONE AND WEATHER DATA</a:t>
            </a:r>
            <a:endParaRPr lang="en-US" sz="2267" dirty="0"/>
          </a:p>
        </p:txBody>
      </p:sp>
      <p:sp>
        <p:nvSpPr>
          <p:cNvPr id="8" name="Shape 5"/>
          <p:cNvSpPr/>
          <p:nvPr/>
        </p:nvSpPr>
        <p:spPr>
          <a:xfrm>
            <a:off x="670560" y="4267200"/>
            <a:ext cx="7924800" cy="48768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5196253" y="5491791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latin typeface="Rockwell" pitchFamily="34" charset="0"/>
                <a:ea typeface="Rockwell" pitchFamily="34" charset="-122"/>
                <a:cs typeface="Rockwell" pitchFamily="34" charset="-120"/>
              </a:rPr>
              <a:t>Paula Perez</a:t>
            </a:r>
            <a:endParaRPr lang="en-US" sz="1733" dirty="0"/>
          </a:p>
        </p:txBody>
      </p:sp>
      <p:sp>
        <p:nvSpPr>
          <p:cNvPr id="12" name="Text 9"/>
          <p:cNvSpPr/>
          <p:nvPr/>
        </p:nvSpPr>
        <p:spPr>
          <a:xfrm>
            <a:off x="4937760" y="5796826"/>
            <a:ext cx="36576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Undergraduate Student</a:t>
            </a:r>
            <a:endParaRPr lang="en-US" sz="1467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9094763" y="5436811"/>
            <a:ext cx="2194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Brianna Philippe</a:t>
            </a:r>
            <a:endParaRPr lang="en-US" sz="1733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8351520" y="5732702"/>
            <a:ext cx="36576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latin typeface="Rockwell" pitchFamily="34" charset="0"/>
                <a:ea typeface="Rockwell" pitchFamily="34" charset="-122"/>
                <a:cs typeface="Rockwell" pitchFamily="34" charset="-120"/>
              </a:rPr>
              <a:t>Undergraduate Student</a:t>
            </a:r>
            <a:endParaRPr lang="en-US" sz="1467" dirty="0"/>
          </a:p>
        </p:txBody>
      </p:sp>
      <p:sp>
        <p:nvSpPr>
          <p:cNvPr id="15" name="Text 12"/>
          <p:cNvSpPr/>
          <p:nvPr/>
        </p:nvSpPr>
        <p:spPr>
          <a:xfrm>
            <a:off x="67056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Montclair State University AI Showcase  ·  February 27, 2026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6" name="Picture 2" descr="Air Quality Modeling &amp; Policy-making | Institute for the Environment">
            <a:extLst>
              <a:ext uri="{FF2B5EF4-FFF2-40B4-BE49-F238E27FC236}">
                <a16:creationId xmlns:a16="http://schemas.microsoft.com/office/drawing/2014/main" id="{D8C88D34-9292-7341-222F-6A096A22C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24" y="-7562"/>
            <a:ext cx="11923776" cy="546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3"/>
          <p:cNvSpPr/>
          <p:nvPr/>
        </p:nvSpPr>
        <p:spPr>
          <a:xfrm>
            <a:off x="392605" y="17233"/>
            <a:ext cx="11675014" cy="1533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kern="0" spc="67" dirty="0">
                <a:solidFill>
                  <a:schemeClr val="bg2">
                    <a:lumMod val="25000"/>
                  </a:schemeClr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PROMPT ENGINEERING</a:t>
            </a:r>
            <a:r>
              <a:rPr lang="en-US" sz="4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4000" b="1" kern="0" spc="67" dirty="0">
                <a:solidFill>
                  <a:schemeClr val="bg2">
                    <a:lumMod val="25000"/>
                  </a:schemeClr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FOR ENVIRONMENTAL</a:t>
            </a:r>
            <a:r>
              <a:rPr lang="en-US" sz="4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4000" b="1" kern="0" spc="67" dirty="0">
                <a:solidFill>
                  <a:schemeClr val="bg2">
                    <a:lumMod val="25000"/>
                  </a:schemeClr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MODELING</a:t>
            </a:r>
            <a:endParaRPr lang="en-US" sz="4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70560" y="5510784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latin typeface="Rockwell" pitchFamily="34" charset="0"/>
                <a:ea typeface="Rockwell" pitchFamily="34" charset="-122"/>
                <a:cs typeface="Rockwell" pitchFamily="34" charset="-120"/>
              </a:rPr>
              <a:t>Dr. Figen Suchanek</a:t>
            </a:r>
            <a:endParaRPr lang="en-US" sz="1733" dirty="0"/>
          </a:p>
        </p:txBody>
      </p:sp>
      <p:sp>
        <p:nvSpPr>
          <p:cNvPr id="10" name="Text 7"/>
          <p:cNvSpPr/>
          <p:nvPr/>
        </p:nvSpPr>
        <p:spPr>
          <a:xfrm>
            <a:off x="530352" y="5876544"/>
            <a:ext cx="36576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chemeClr val="tx1">
                    <a:lumMod val="85000"/>
                    <a:lumOff val="15000"/>
                  </a:schemeClr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suchanekf@montclair.edu</a:t>
            </a:r>
            <a:endParaRPr lang="en-US" sz="1467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8224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426720"/>
            <a:ext cx="1109472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067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LLM Prompt Set</a:t>
            </a:r>
            <a:endParaRPr lang="en-US" sz="5067" dirty="0"/>
          </a:p>
        </p:txBody>
      </p:sp>
      <p:sp>
        <p:nvSpPr>
          <p:cNvPr id="4" name="Text 2"/>
          <p:cNvSpPr/>
          <p:nvPr/>
        </p:nvSpPr>
        <p:spPr>
          <a:xfrm>
            <a:off x="548640" y="134112"/>
            <a:ext cx="11094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dirty="0">
                <a:solidFill>
                  <a:srgbClr val="14B8A6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Random Forest Ozone Modeling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548640" y="768331"/>
            <a:ext cx="6705600" cy="48768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48640" y="786619"/>
            <a:ext cx="107289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latin typeface="Rockwell" panose="02060603020205020403" pitchFamily="18" charset="0"/>
                <a:ea typeface="Rockwell" pitchFamily="34" charset="-122"/>
                <a:cs typeface="Rockwell" pitchFamily="34" charset="-120"/>
              </a:rPr>
              <a:t>Five prompting strategies were tested on the same dataset, model, and evaluation criteria.</a:t>
            </a:r>
            <a:endParaRPr lang="en-US" sz="1667" dirty="0">
              <a:latin typeface="Rockwell" panose="02060603020205020403" pitchFamily="18" charset="0"/>
            </a:endParaRPr>
          </a:p>
          <a:p>
            <a:r>
              <a:rPr lang="en-US" sz="1667" dirty="0">
                <a:latin typeface="Rockwell" panose="02060603020205020403" pitchFamily="18" charset="0"/>
                <a:ea typeface="Rockwell" pitchFamily="34" charset="-122"/>
                <a:cs typeface="Rockwell" pitchFamily="34" charset="-120"/>
              </a:rPr>
              <a:t>Only the prompt changes - the results differ significantly.</a:t>
            </a:r>
            <a:endParaRPr lang="en-US" sz="1667" dirty="0">
              <a:latin typeface="Rockwell" panose="020606030202050204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2064" y="3316224"/>
            <a:ext cx="2072640" cy="2377440"/>
          </a:xfrm>
          <a:prstGeom prst="rect">
            <a:avLst/>
          </a:prstGeom>
          <a:solidFill>
            <a:srgbClr val="0F3352"/>
          </a:solidFill>
          <a:ln w="1905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512064" y="3322555"/>
            <a:ext cx="2072640" cy="121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512064" y="3462528"/>
            <a:ext cx="2072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E53E3E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01</a:t>
            </a:r>
            <a:endParaRPr lang="en-US" sz="2933" dirty="0"/>
          </a:p>
        </p:txBody>
      </p:sp>
      <p:sp>
        <p:nvSpPr>
          <p:cNvPr id="10" name="Text 8"/>
          <p:cNvSpPr/>
          <p:nvPr/>
        </p:nvSpPr>
        <p:spPr>
          <a:xfrm>
            <a:off x="512064" y="3974592"/>
            <a:ext cx="207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Zero-Shot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512064" y="4706112"/>
            <a:ext cx="2072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E53E3E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R2 = 0.6676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2755392" y="3316224"/>
            <a:ext cx="2072640" cy="2377440"/>
          </a:xfrm>
          <a:prstGeom prst="rect">
            <a:avLst/>
          </a:prstGeom>
          <a:solidFill>
            <a:srgbClr val="0F3352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2755392" y="3316224"/>
            <a:ext cx="2072640" cy="12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2755392" y="3462528"/>
            <a:ext cx="2072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0D9488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02</a:t>
            </a:r>
            <a:endParaRPr lang="en-US" sz="2933" dirty="0"/>
          </a:p>
        </p:txBody>
      </p:sp>
      <p:sp>
        <p:nvSpPr>
          <p:cNvPr id="15" name="Text 13"/>
          <p:cNvSpPr/>
          <p:nvPr/>
        </p:nvSpPr>
        <p:spPr>
          <a:xfrm>
            <a:off x="2755392" y="3974592"/>
            <a:ext cx="207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Few-Shot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2755392" y="4706112"/>
            <a:ext cx="2072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0D9488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R2 = 0.7133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4998720" y="3316224"/>
            <a:ext cx="2072640" cy="2377440"/>
          </a:xfrm>
          <a:prstGeom prst="rect">
            <a:avLst/>
          </a:prstGeom>
          <a:solidFill>
            <a:srgbClr val="0F3352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4998720" y="3316224"/>
            <a:ext cx="2072640" cy="121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998720" y="3462528"/>
            <a:ext cx="2072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7C3AED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03</a:t>
            </a:r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4998720" y="3974592"/>
            <a:ext cx="207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Role-Based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4998720" y="4706112"/>
            <a:ext cx="2072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7C3AED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R2 = 0.7347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7242048" y="3316224"/>
            <a:ext cx="2072640" cy="2377440"/>
          </a:xfrm>
          <a:prstGeom prst="rect">
            <a:avLst/>
          </a:prstGeom>
          <a:solidFill>
            <a:srgbClr val="0F3352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7242048" y="3316224"/>
            <a:ext cx="2072640" cy="121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7242048" y="3462528"/>
            <a:ext cx="2072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97316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04</a:t>
            </a:r>
            <a:endParaRPr lang="en-US" sz="2933" dirty="0"/>
          </a:p>
        </p:txBody>
      </p:sp>
      <p:sp>
        <p:nvSpPr>
          <p:cNvPr id="25" name="Text 23"/>
          <p:cNvSpPr/>
          <p:nvPr/>
        </p:nvSpPr>
        <p:spPr>
          <a:xfrm>
            <a:off x="7242048" y="3974592"/>
            <a:ext cx="207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Constraint-Based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7242048" y="4706112"/>
            <a:ext cx="2072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97316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R2 = 0.7334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9485376" y="3316224"/>
            <a:ext cx="2072640" cy="2377440"/>
          </a:xfrm>
          <a:prstGeom prst="rect">
            <a:avLst/>
          </a:prstGeom>
          <a:solidFill>
            <a:srgbClr val="0F3352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9485376" y="3316224"/>
            <a:ext cx="2072640" cy="121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9485376" y="3462528"/>
            <a:ext cx="2072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14B8A6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05</a:t>
            </a:r>
            <a:endParaRPr lang="en-US" sz="2933" dirty="0"/>
          </a:p>
        </p:txBody>
      </p:sp>
      <p:sp>
        <p:nvSpPr>
          <p:cNvPr id="30" name="Text 28"/>
          <p:cNvSpPr/>
          <p:nvPr/>
        </p:nvSpPr>
        <p:spPr>
          <a:xfrm>
            <a:off x="9485376" y="3974592"/>
            <a:ext cx="207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Chain-of-Thought</a:t>
            </a:r>
            <a:endParaRPr lang="en-US" sz="1333" dirty="0"/>
          </a:p>
        </p:txBody>
      </p:sp>
      <p:sp>
        <p:nvSpPr>
          <p:cNvPr id="31" name="Text 29"/>
          <p:cNvSpPr/>
          <p:nvPr/>
        </p:nvSpPr>
        <p:spPr>
          <a:xfrm>
            <a:off x="9485376" y="4706112"/>
            <a:ext cx="2072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14B8A6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R2 = 0.7467 Best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365760" y="6486144"/>
            <a:ext cx="1146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i="1" dirty="0">
                <a:latin typeface="Rockwell" pitchFamily="34" charset="0"/>
                <a:ea typeface="Rockwell" pitchFamily="34" charset="-122"/>
                <a:cs typeface="Rockwell" pitchFamily="34" charset="-120"/>
              </a:rPr>
              <a:t>Dataset: Daily_Weather_Polution_2017_2024_Ozone_Newark_Newark.csv  |  Montclair State University AI Showcase  |  February 27, 2026</a:t>
            </a:r>
            <a:endParaRPr lang="en-US" sz="1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950976"/>
            <a:ext cx="12192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87680" y="97536"/>
            <a:ext cx="853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Prompt 01: Zero-Shot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9204960" y="158496"/>
            <a:ext cx="2743200" cy="58521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9204960" y="158496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ZERO-SHOT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487680" y="1097280"/>
            <a:ext cx="1121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latin typeface="Rockwell" pitchFamily="34" charset="0"/>
                <a:ea typeface="Rockwell" pitchFamily="34" charset="-122"/>
                <a:cs typeface="Rockwell" pitchFamily="34" charset="-120"/>
              </a:rPr>
              <a:t>No examples. Task + data only - model must infer the full workflow from scratch.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60576"/>
            <a:ext cx="5181600" cy="505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365760" y="1560576"/>
            <a:ext cx="5181600" cy="46329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365760" y="1560576"/>
            <a:ext cx="5181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kern="0" spc="200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KEY REQUIREMENTS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536448" y="2231136"/>
            <a:ext cx="109728" cy="1097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31520" y="2157984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Load CSV; handle T trace values in precipitation as 0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536448" y="2950464"/>
            <a:ext cx="109728" cy="1097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731520" y="2877312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Use ONLY meteorological predictors (temp, RH, pressure, wind, precip, sunrise, sunset)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536448" y="3669792"/>
            <a:ext cx="109728" cy="1097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31520" y="3596640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Exclude any column containing ozone or AQI - prevents data leakage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536448" y="4389120"/>
            <a:ext cx="109728" cy="1097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31520" y="4315968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train/test split: test_size=0.30, random_state=42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536448" y="5108448"/>
            <a:ext cx="109728" cy="1097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731520" y="5035296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Train RandomForestRegressor (random_state=42)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536448" y="5827776"/>
            <a:ext cx="109728" cy="1097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731520" y="5754624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Evaluate RMSE, MAE, R2 -- Print ONE JSON line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5876544" y="1560576"/>
            <a:ext cx="5949696" cy="5059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5876544" y="1560576"/>
            <a:ext cx="5949696" cy="463296"/>
          </a:xfrm>
          <a:prstGeom prst="rect">
            <a:avLst/>
          </a:prstGeom>
          <a:solidFill>
            <a:srgbClr val="E53E3E">
              <a:alpha val="75000"/>
            </a:srgbClr>
          </a:solidFill>
          <a:ln w="12700">
            <a:solidFill>
              <a:srgbClr val="E53E3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5876544" y="1560576"/>
            <a:ext cx="59496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kern="0" spc="133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PROMPT TEXT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6059424" y="2097024"/>
            <a:ext cx="5583936" cy="441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single Python script that: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Loads the CSV file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Target: Daily Max 8-hour Ozone Concentration (ppm)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Handles T in Daily Precipitation (mm) treating it as 0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Converts relevant columns to numeric safely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Uses ONLY meteorological predictors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Does NOT use ozone or AQI columns as features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Splits data: test_size=0.30, random_state=42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Trains RandomForestRegressor(random_state=42)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Evaluates: RMSE, MAE, R2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Prints ONE JSON line with keys: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prompt_type, model, rmse, mae, r2, n_rows, n_features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prompt_type to Zero-Shot</a:t>
            </a:r>
            <a:endParaRPr lang="en-US" sz="11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950976"/>
            <a:ext cx="12192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87680" y="97536"/>
            <a:ext cx="853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Prompt 02: Few-Shot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9204960" y="158496"/>
            <a:ext cx="274320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9204960" y="158496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FEW-SHOT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487680" y="1097280"/>
            <a:ext cx="1121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latin typeface="Rockwell" pitchFamily="34" charset="0"/>
                <a:ea typeface="Rockwell" pitchFamily="34" charset="-122"/>
                <a:cs typeface="Rockwell" pitchFamily="34" charset="-120"/>
              </a:rPr>
              <a:t>Includes a sample workflow pattern to guide the model's code generation style.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60576"/>
            <a:ext cx="5181600" cy="505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365760" y="1560576"/>
            <a:ext cx="5181600" cy="463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365760" y="1560576"/>
            <a:ext cx="5181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kern="0" spc="200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KEY REQUIREMENTS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536448" y="223113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31520" y="2157984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Always strip column names: df.columns = df.columns.str.strip()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536448" y="295046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731520" y="2877312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Always replace precipitation trace values with 0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536448" y="36697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31520" y="3596640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Always convert with pd.to_numeric(..., errors=coerce)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536448" y="4389120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31520" y="4315968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Always drop rows with missing target; fill features with median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536448" y="510844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731520" y="5035296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Exclude any column containing ozone or AQI from features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536448" y="582777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731520" y="5754624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train/test split: test_size=0.30, random_state=42 -- Print ONE JSON line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5876544" y="1560576"/>
            <a:ext cx="5949696" cy="5059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5876544" y="1560576"/>
            <a:ext cx="5949696" cy="463296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5876544" y="1560576"/>
            <a:ext cx="59496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kern="0" spc="133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PROMPT TEXT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6059424" y="2097024"/>
            <a:ext cx="5583936" cy="441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going to write one single Python script.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these patterns: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Always do: df.columns = df.columns.str.strip()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Always replace precipitation trace values with 0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Always convert: pd.to_numeric(..., errors=coerce)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Always drop rows with missing target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Fill missing features with median (not mean)</a:t>
            </a:r>
            <a:endParaRPr lang="en-US" sz="1133" dirty="0"/>
          </a:p>
          <a:p>
            <a:pPr>
              <a:spcAft>
                <a:spcPts val="267"/>
              </a:spcAft>
            </a:pP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write the full script for: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Dataset: the Newark ozone CSV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Target: Daily Max 8-hour Ozone Concentration (ppm)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ONLY meteorological predictors; exclude ozone/AQI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test_size=0.30, random_state=42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Train RandomForestRegressor(random_state=42)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Print ONE JSON line -- Set prompt_type=Few-Shot</a:t>
            </a:r>
            <a:endParaRPr lang="en-US" sz="11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950976"/>
            <a:ext cx="12192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87680" y="97536"/>
            <a:ext cx="853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Prompt 03: Role-Based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9204960" y="158496"/>
            <a:ext cx="2743200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9204960" y="158496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ROLE-BASED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487680" y="1097280"/>
            <a:ext cx="1121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64748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Frames Claude as an expert environmental data scientist to elicit best-practice 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60576"/>
            <a:ext cx="5181600" cy="505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365760" y="1560576"/>
            <a:ext cx="5181600" cy="463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365760" y="1560576"/>
            <a:ext cx="5181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kern="0" spc="200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KEY REQUIREMENTS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536448" y="2231136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31520" y="2157984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Role: experienced environmental data scientist and ML researcher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536448" y="2950464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731520" y="2877312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Strip whitespace from column names; handle T trace values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536448" y="3669792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31520" y="3596640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Use ONLY meteorological predictors; exclude ozone and AQI (case-insensitive)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536448" y="4389120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31520" y="4315968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Drop rows with missing target; apply median imputation to features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536448" y="5108448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731520" y="5035296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train/test split: test_size=0.30, random_state=42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536448" y="5827776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731520" y="5754624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Train RandomForestRegressor -- Evaluate RMSE, MAE, R2 -- Print ONE JSON line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5876544" y="1560576"/>
            <a:ext cx="5949696" cy="5059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5876544" y="1560576"/>
            <a:ext cx="5949696" cy="463296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5876544" y="1560576"/>
            <a:ext cx="59496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kern="0" spc="133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PROMPT TEXT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6059424" y="2097024"/>
            <a:ext cx="5583936" cy="441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experienced environmental data scientist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machine learning researcher.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single Python script following professional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practices in data cleaning and modeling.</a:t>
            </a:r>
            <a:endParaRPr lang="en-US" sz="1133" dirty="0"/>
          </a:p>
          <a:p>
            <a:pPr>
              <a:spcAft>
                <a:spcPts val="267"/>
              </a:spcAft>
            </a:pP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script must: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Load the Newark ozone CSV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Strip whitespace from column names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Target: Daily Max 8-hour Ozone Concentration (ppm)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Treat T in precipitation as 0; convert columns safely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ONLY meteorological predictors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Exclude columns containing ozone or AQI (case-insensitive)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Drop rows with missing target; apply median imputation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test_size=0.30, random_state=42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Train RandomForestRegressor(random_state=42)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Print ONE JSON line -- Set prompt_type=Role-Based</a:t>
            </a:r>
            <a:endParaRPr lang="en-US" sz="11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950976"/>
            <a:ext cx="12192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87680" y="97536"/>
            <a:ext cx="853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Prompt 04: Constraint-Based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9204960" y="158496"/>
            <a:ext cx="2743200" cy="5852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9204960" y="158496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CONSTRAINT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487680" y="1097280"/>
            <a:ext cx="1121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latin typeface="Rockwell" pitchFamily="34" charset="0"/>
                <a:ea typeface="Rockwell" pitchFamily="34" charset="-122"/>
                <a:cs typeface="Rockwell" pitchFamily="34" charset="-120"/>
              </a:rPr>
              <a:t>Explicit hard constraints - raises an error if any constraint cannot be satisfied</a:t>
            </a:r>
            <a:r>
              <a:rPr lang="en-US" sz="1400" i="1" dirty="0">
                <a:solidFill>
                  <a:srgbClr val="64748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60576"/>
            <a:ext cx="5181600" cy="505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365760" y="1560576"/>
            <a:ext cx="5181600" cy="4632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365760" y="1560576"/>
            <a:ext cx="5181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kern="0" spc="200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KEY REQUIREMENTS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536448" y="2231136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31520" y="2157984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Strict allowed feature list: Temp, RH, Pressure, Wind Speed, Max/Min Temp, Precip, Sunrise, Sunset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536448" y="2950464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731520" y="2877312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Explicitly exclude: ozone, aqi, pm, no2, so2, co (case-insensitive)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536448" y="3669792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31520" y="3596640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Raise a clear error if none of the allowed meteorological columns exist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536448" y="4389120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31520" y="4315968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Drop rows with missing target; apply median imputation to features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536448" y="5108448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731520" y="5035296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train/test split: test_size=0.30, random_state=42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536448" y="5827776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731520" y="5754624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Train RandomForestRegressor -- Evaluate RMSE, MAE, R2 -- Print ONE JSON line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5876544" y="1560576"/>
            <a:ext cx="5949696" cy="5059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5876544" y="1560576"/>
            <a:ext cx="5949696" cy="463296"/>
          </a:xfrm>
          <a:prstGeom prst="rect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5876544" y="1560576"/>
            <a:ext cx="59496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kern="0" spc="133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PROMPT TEXT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6059424" y="2097024"/>
            <a:ext cx="5583936" cy="441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single Python script strictly following ALL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 below. Raise an error if any fails.</a:t>
            </a:r>
            <a:endParaRPr lang="en-US" sz="1133" dirty="0"/>
          </a:p>
          <a:p>
            <a:pPr>
              <a:spcAft>
                <a:spcPts val="267"/>
              </a:spcAft>
            </a:pP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Constraints: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Load CSV; strip whitespace from column names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Target: Daily Max 8-hour Ozone Concentration (ppm)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Treat T in precipitation as 0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Allowed features ONLY (if present in CSV):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Temp.(oC), RH(%), Pressure(mb), Wind Speed(m/s),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Max.Temp.(oC), Min.Temp.(oC), Precipitation(mm),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Sunrise, Sunset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Exclude: ozone, aqi, pm, no2, so2, co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Raise error if no allowed columns exist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Drop missing target; median-impute features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test_size=0.30, random_state=42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RandomForestRegressor(random_state=42)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Print ONE JSON line -- Set prompt_type=Constraint-Based</a:t>
            </a:r>
            <a:endParaRPr lang="en-US" sz="11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0976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950976"/>
            <a:ext cx="12192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487680" y="97536"/>
            <a:ext cx="853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Prompt 05: Chain-of-Thought</a:t>
            </a:r>
            <a:endParaRPr lang="en-US" sz="2667" dirty="0"/>
          </a:p>
        </p:txBody>
      </p:sp>
      <p:sp>
        <p:nvSpPr>
          <p:cNvPr id="5" name="Shape 3"/>
          <p:cNvSpPr/>
          <p:nvPr/>
        </p:nvSpPr>
        <p:spPr>
          <a:xfrm>
            <a:off x="9204960" y="158496"/>
            <a:ext cx="2743200" cy="5852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9204960" y="158496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CHAIN-OF-THOUGHT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487680" y="1097280"/>
            <a:ext cx="1121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latin typeface="Rockwell" pitchFamily="34" charset="0"/>
                <a:ea typeface="Rockwell" pitchFamily="34" charset="-122"/>
                <a:cs typeface="Rockwell" pitchFamily="34" charset="-120"/>
              </a:rPr>
              <a:t>Step-by-step reasoning with helper functions + lag features -- best performer (R2=0.7467).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60576"/>
            <a:ext cx="5181600" cy="505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365760" y="1560576"/>
            <a:ext cx="5181600" cy="4632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365760" y="1560576"/>
            <a:ext cx="51816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kern="0" spc="200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KEY REQUIREMENTS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536448" y="2231136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31520" y="2157984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Explicit step-by-step structure with named helper functions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536448" y="2950464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731520" y="2877312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Adds lag1 and lag2 versions of every meteorological feature (27 total features)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536448" y="3669792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31520" y="3596640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Drop rows with missing target; median-impute NaNs after lag creation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536448" y="4389120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31520" y="4315968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Exclude any column containing ozone or AQI (case-insensitive)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536448" y="5108448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731520" y="5035296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train/test split: test_size=0.30, random_state=42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536448" y="5827776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731520" y="5754624"/>
            <a:ext cx="4657344" cy="646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Train RandomForestRegressor -- Evaluate RMSE, MAE, R2 -- Print ONE JSON line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5876544" y="1560576"/>
            <a:ext cx="5949696" cy="5059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5876544" y="1560576"/>
            <a:ext cx="5949696" cy="463296"/>
          </a:xfrm>
          <a:prstGeom prst="rect">
            <a:avLst/>
          </a:prstGeom>
          <a:solidFill>
            <a:srgbClr val="14B8A6">
              <a:alpha val="75000"/>
            </a:srgbClr>
          </a:solidFill>
          <a:ln w="12700">
            <a:solidFill>
              <a:srgbClr val="14B8A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5876544" y="1560576"/>
            <a:ext cx="59496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kern="0" spc="133" dirty="0">
                <a:solidFill>
                  <a:srgbClr val="FFFFFF"/>
                </a:solidFill>
                <a:latin typeface="Rockwell" pitchFamily="34" charset="0"/>
                <a:ea typeface="Rockwell" pitchFamily="34" charset="-122"/>
                <a:cs typeface="Rockwell" pitchFamily="34" charset="-120"/>
              </a:rPr>
              <a:t>PROMPT TEXT  (sent to Claude AI)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6059424" y="2097024"/>
            <a:ext cx="5583936" cy="441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single Python script that performs the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following task step by step using helper functions:</a:t>
            </a:r>
            <a:endParaRPr lang="en-US" sz="1133" dirty="0"/>
          </a:p>
          <a:p>
            <a:pPr>
              <a:spcAft>
                <a:spcPts val="267"/>
              </a:spcAft>
            </a:pP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load_and_clean()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 CSV, strip columns, handle T as 0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select_features()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ONLY meteorological; exclude ozone and AQI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convert_to_numeric()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pd.to_numeric(..., errors=coerce)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4: add_lag_features()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lag1 and lag2 for each feature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5: Drop rows missing target; median-impute NaNs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6: train/test split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test_size=0.30, random_state=42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7: Train RandomForestRegressor(random_state=42)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8: Evaluate RMSE, MAE, R2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9: Print ONE JSON line</a:t>
            </a:r>
            <a:endParaRPr lang="en-US" sz="1133" dirty="0"/>
          </a:p>
          <a:p>
            <a:pPr>
              <a:spcAft>
                <a:spcPts val="267"/>
              </a:spcAft>
            </a:pPr>
            <a:r>
              <a:rPr lang="en-US" sz="1133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prompt_type=Chain-of-Thought</a:t>
            </a:r>
            <a:endParaRPr lang="en-US" sz="11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7488</TotalTime>
  <Words>1356</Words>
  <Application>Microsoft Office PowerPoint</Application>
  <PresentationFormat>Widescreen</PresentationFormat>
  <Paragraphs>170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Figen Suchanek</dc:creator>
  <cp:lastModifiedBy>Figen Suchanek</cp:lastModifiedBy>
  <cp:revision>22</cp:revision>
  <dcterms:created xsi:type="dcterms:W3CDTF">2026-02-08T22:48:23Z</dcterms:created>
  <dcterms:modified xsi:type="dcterms:W3CDTF">2026-02-24T19:00:08Z</dcterms:modified>
</cp:coreProperties>
</file>